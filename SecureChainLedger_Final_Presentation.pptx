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097280"/>
            <a:ext cx="73152" cy="1463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5156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FINAL YEAR B.TECH CAPSTONE PROJECT PRESENTATION</a:t>
            </a:r>
          </a:p>
          <a:p>
            <a:pPr>
              <a:spcBef>
                <a:spcPts val="600"/>
              </a:spcBef>
              <a:defRPr sz="3600" b="1">
                <a:solidFill>
                  <a:srgbClr val="F8FAFC"/>
                </a:solidFill>
                <a:latin typeface="Arial"/>
              </a:defRPr>
            </a:pPr>
            <a:r>
              <a:t>SecureChainLedger</a:t>
            </a:r>
          </a:p>
          <a:p>
            <a:pPr>
              <a:spcBef>
                <a:spcPts val="400"/>
              </a:spcBef>
              <a:defRPr sz="1500">
                <a:solidFill>
                  <a:srgbClr val="818CF8"/>
                </a:solidFill>
                <a:latin typeface="Arial"/>
              </a:defRPr>
            </a:pPr>
            <a:r>
              <a:t>A Blockchain-Based Pharmaceutical Supply Chain Traceability and Medicine Verification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017520"/>
            <a:ext cx="5029200" cy="31089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CANDIDATE INFORMATION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Student Name: </a:t>
            </a:r>
            <a:r>
              <a:rPr b="0">
                <a:solidFill>
                  <a:srgbClr val="94A3B8"/>
                </a:solidFill>
              </a:rPr>
              <a:t>[Candidate Name / Marka Sai Charan]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Roll / Reg. No: </a:t>
            </a:r>
            <a:r>
              <a:rPr b="0">
                <a:solidFill>
                  <a:srgbClr val="94A3B8"/>
                </a:solidFill>
              </a:rPr>
              <a:t>[Candidate Registration Number]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Department: </a:t>
            </a:r>
            <a:r>
              <a:rPr b="0">
                <a:solidFill>
                  <a:srgbClr val="94A3B8"/>
                </a:solidFill>
              </a:rPr>
              <a:t>Department of Computer Science &amp; Engineering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Institution: </a:t>
            </a:r>
            <a:r>
              <a:rPr b="0">
                <a:solidFill>
                  <a:srgbClr val="94A3B8"/>
                </a:solidFill>
              </a:rPr>
              <a:t>[University / Engineering College Name]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Degree: </a:t>
            </a:r>
            <a:r>
              <a:rPr b="0">
                <a:solidFill>
                  <a:srgbClr val="94A3B8"/>
                </a:solidFill>
              </a:rPr>
              <a:t>Bachelor of Technology (B.Tech)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017520"/>
            <a:ext cx="5029200" cy="31089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PROJECT &amp; ADVISORY CONTEXT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Project Guide: </a:t>
            </a:r>
            <a:r>
              <a:rPr b="0">
                <a:solidFill>
                  <a:srgbClr val="94A3B8"/>
                </a:solidFill>
              </a:rPr>
              <a:t>[Name &amp; Designation of Project Supervisor]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Head of Department: </a:t>
            </a:r>
            <a:r>
              <a:rPr b="0">
                <a:solidFill>
                  <a:srgbClr val="94A3B8"/>
                </a:solidFill>
              </a:rPr>
              <a:t>[Name &amp; Designation of HOD]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Academic Year: </a:t>
            </a:r>
            <a:r>
              <a:rPr b="0">
                <a:solidFill>
                  <a:srgbClr val="94A3B8"/>
                </a:solidFill>
              </a:rPr>
              <a:t>2025 - 2026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Specialization: </a:t>
            </a:r>
            <a:r>
              <a:rPr b="0">
                <a:solidFill>
                  <a:srgbClr val="94A3B8"/>
                </a:solidFill>
              </a:rPr>
              <a:t>Distributed Systems &amp; Cybersecurity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Project Phase: </a:t>
            </a:r>
            <a:r>
              <a:rPr b="0">
                <a:solidFill>
                  <a:srgbClr val="94A3B8"/>
                </a:solidFill>
              </a:rPr>
              <a:t>Part 1 &amp; 2: Complete Architecture &amp;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1: FOUNDATIONAL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Executive Abstract &amp;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FB7185"/>
                </a:solidFill>
                <a:latin typeface="Arial"/>
              </a:defRPr>
            </a:pPr>
            <a:r>
              <a:t>THE PHARMA CHALLENGE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Global counterfeit drugs and diverted pharmaceutical channels jeopardize patient lives.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Disparate legacy ERP databases cause blind spots between manufacturers, distributors, and dispensaries.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Physical inspection alone cannot determine if a package was tampered with or repackaged.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Recalls take weeks to trace, resulting in hazardous expired or flagged medicines remaining in circulation.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6616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PROPOSED HYBRID ARCHITECTURE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Permissioned Distributed Ledger: Hyperledger Fabric anchors trust-critical custody handshakes and QA hashes.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High-Performance Relational Layer: PostgreSQL manages day-to-day enterprise queries, filters, and inventories.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Asynchronous Transactional Outbox: Decouples local transactions from blockchain consensus, eliminating latency bottlenecks.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Consumer QR Verification: Enables point-of-dispense verification without requiring blockchain wallets or logins.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EXPECTED PROJECT VALUE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Cryptographic Provenance: Tamper-proof, immutable record of every manufacturer batch and intermediate transfer.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Targeted Recall Coordination: Isolates compromised batches instantly without disrupting unaffected genuine inventory.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Heuristic &amp; AI Anomaly Surveillance: Flags quantity leakage, transit velocity anomalies, and duplicate remote scans.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Academic &amp; Regulatory Rigor: Grounded in pragmatic engineering without fabricating unverified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1: FOUNDATIONAL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 Statement: Breakdown of Supply Chain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20574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FB7185"/>
                </a:solidFill>
                <a:latin typeface="Arial"/>
              </a:defRPr>
            </a:pPr>
            <a:r>
              <a:t>01. Fragmented Enterprise Records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Each participant (manufacturer, clearing agent, 3PL distributor, hospital) maintains an isolated internal database. No unified authoritative source exists.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20574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FBBF24"/>
                </a:solidFill>
                <a:latin typeface="Arial"/>
              </a:defRPr>
            </a:pPr>
            <a:r>
              <a:t>02. Opaque Custody Handshakes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When ownership passes at transport hubs or warehouses, physical receipts are signed on paper or siloed portals, creating opportunities for unauthorized diversion.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29000" cy="20574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03. Inability to Verify Batch Provenance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Pharmacies and hospitals receive shipments with certificates of analysis that cannot be cryptographically proven against the original manufacturer QA record.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429000" cy="20574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818CF8"/>
                </a:solidFill>
                <a:latin typeface="Arial"/>
              </a:defRPr>
            </a:pPr>
            <a:r>
              <a:t>04. Sluggish Emergency Drug Recalls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When a quality defect or contamination is discovered, locating the specific distributor holding contaminated units requires manual phone trees and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931920"/>
            <a:ext cx="3429000" cy="20574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FB7185"/>
                </a:solidFill>
                <a:latin typeface="Arial"/>
              </a:defRPr>
            </a:pPr>
            <a:r>
              <a:t>05. Vulnerability of Static Packaging Identifiers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Counterfeiters easily replicate standard 1D barcodes and static 2D QR codes on fake packaging, tricking retail consumers and clinicians.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931920"/>
            <a:ext cx="3429000" cy="20574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34D399"/>
                </a:solidFill>
                <a:latin typeface="Arial"/>
              </a:defRPr>
            </a:pPr>
            <a:r>
              <a:t>06. Regulatory &amp; Compliance Overhead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Arial"/>
              </a:defRPr>
            </a:pPr>
            <a:r>
              <a:t>Verifying compliance with standards like FDA DSCSA or EU FMD requires tedious cross-audits between uncooperative business entities.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1: FOUNDATIONAL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Motivation &amp; Real-World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DRIVERS FOR DIGITAL TRANSFORMATION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Public Health &amp; Patient Safety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Substandard and falsified medical products lead to treatment failure, drug resistance, and avoidable fatalities worldwide.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Economic Loss &amp; Brand Damage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Pharmaceutical manufacturers suffer billions in losses and severe brand erosion when illicit goods infiltrate licensed supply channels.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Mandatory Global Serialization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Regulatory directives (US DSCSA, EU FMD, India National Traceability Mandates) enforce unit-level serialization and end-to-end auditability.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Rapid Crisis Containment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Contaminated drug batches must be quarantined within minutes rather than weeks to prevent patient administration.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Cross-Entity Trust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Permissioned consensus eliminates reliance on a single centralized intermediary.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88920"/>
            <a:ext cx="5303520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34D399"/>
                </a:solidFill>
                <a:latin typeface="Arial"/>
              </a:defRPr>
            </a:pPr>
            <a:r>
              <a:t>Real-Time Visibility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Authorized stakeholders track custody transfers with cryptographic handshakes.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303520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FBBF24"/>
                </a:solidFill>
                <a:latin typeface="Arial"/>
              </a:defRPr>
            </a:pPr>
            <a:r>
              <a:t>Universal Verification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Patients and pharmacists verify batch authenticity using standard smartphone browsers.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074920"/>
            <a:ext cx="5303520" cy="1051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818CF8"/>
                </a:solidFill>
                <a:latin typeface="Arial"/>
              </a:defRPr>
            </a:pPr>
            <a:r>
              <a:t>Tamper-Proof Audit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Immutable ledger transactions prevent retroactive alteration of batch histories.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1: FOUNDATIONAL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Objectives &amp; Scope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Objective 1: Batch &amp; QA Hash Registration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Enable licensed manufacturers to register pharmaceutical batches with cryptographic SHA-256 document digests of QA test certificates anchored to the ledger.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34D399"/>
                </a:solidFill>
                <a:latin typeface="Arial"/>
              </a:defRPr>
            </a:pPr>
            <a:r>
              <a:t>Objective 2: Verifiable Custody Transfers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Implement multi-party transfer workflows requiring explicit cryptographic receipt handshakes from recipient nodes before ownership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21208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FBBF24"/>
                </a:solidFill>
                <a:latin typeface="Arial"/>
              </a:defRPr>
            </a:pPr>
            <a:r>
              <a:t>Objective 3: Public QR-Based Verification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Expose a low-latency public verification endpoint generating interactive provenance timelines accessible via mobile browsers without authentication.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154680"/>
            <a:ext cx="521208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818CF8"/>
                </a:solidFill>
                <a:latin typeface="Arial"/>
              </a:defRPr>
            </a:pPr>
            <a:r>
              <a:t>Objective 4: Role-Based Enterprise Dashboards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Deliver tailored portals for Manufacturers, Distributors, Hospitals, Pharmacies, and Regulators with strict role-based access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521208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FB7185"/>
                </a:solidFill>
                <a:latin typeface="Arial"/>
              </a:defRPr>
            </a:pPr>
            <a:r>
              <a:t>Objective 5: Instantaneous Recall Containment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Allow authorized regulators or manufacturers to trigger emergency recalls that automatically flag inventory across all downstream entities.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663440"/>
            <a:ext cx="5212080" cy="13716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Objective 6: Surveillance &amp; Anomaly Detection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Incorporate rule-based and AI-driven analysis to detect abnormal transfer velocity, quantity leakage, and concurrent multi-location consumer scans.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1: FOUNDATIONAL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Comparative Analysis of Existing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38404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FBBF24"/>
                </a:solidFill>
                <a:latin typeface="Arial"/>
              </a:defRPr>
            </a:pPr>
            <a:r>
              <a:t>Conventional Centralized ERP</a:t>
            </a:r>
          </a:p>
          <a:p>
            <a:pPr>
              <a:spcBef>
                <a:spcPts val="10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MECHANISM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Single database owned by one commercial entity (SAP, Oracle).</a:t>
            </a:r>
          </a:p>
          <a:p>
            <a:pPr>
              <a:spcBef>
                <a:spcPts val="10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BENEFITS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High write throughput, simple queries, well-understood operations.</a:t>
            </a:r>
          </a:p>
          <a:p>
            <a:pPr>
              <a:spcBef>
                <a:spcPts val="10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LIMITATIONS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Zero cross-organization trust; single point of failure; vulnerable to internal DBA tampering; competing firms will not share proprietary databases.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91840" cy="38404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FB7185"/>
                </a:solidFill>
                <a:latin typeface="Arial"/>
              </a:defRPr>
            </a:pPr>
            <a:r>
              <a:t>Static Barcode / QR Labeling</a:t>
            </a:r>
          </a:p>
          <a:p>
            <a:pPr>
              <a:spcBef>
                <a:spcPts val="10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MECHANISM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2D DataMatrix or URL printed on external product packaging.</a:t>
            </a:r>
          </a:p>
          <a:p>
            <a:pPr>
              <a:spcBef>
                <a:spcPts val="10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BENEFITS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Inexpensive, readable by any smartphone camera, universal adoption.</a:t>
            </a:r>
          </a:p>
          <a:p>
            <a:pPr>
              <a:spcBef>
                <a:spcPts val="10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LIMITATIONS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CRITICAL FLAW: A QR code alone does not prove authenticity. Counterfeiters photograph and duplicate legitimate QR codes onto thousands of illicit packages.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566160" cy="38404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818CF8"/>
                </a:solidFill>
                <a:latin typeface="Arial"/>
              </a:defRPr>
            </a:pPr>
            <a:r>
              <a:t>Public Permissionless Blockchain</a:t>
            </a:r>
          </a:p>
          <a:p>
            <a:pPr>
              <a:spcBef>
                <a:spcPts val="10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MECHANISM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Ethereum / Bitcoin public chains with smart contract tokens.</a:t>
            </a:r>
          </a:p>
          <a:p>
            <a:pPr>
              <a:spcBef>
                <a:spcPts val="10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BENEFITS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Decentralized, censorship resistant, publicly verifiable.</a:t>
            </a:r>
          </a:p>
          <a:p>
            <a:pPr>
              <a:spcBef>
                <a:spcPts val="10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LIMITATIONS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Prohibitive gas fees, unpredictable latency, public disclosure of sensitive trade secrets, non-compliant with pharma privacy regulations.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C283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50" b="1">
                <a:solidFill>
                  <a:srgbClr val="34D399"/>
                </a:solidFill>
                <a:latin typeface="Arial"/>
              </a:defRPr>
            </a:pPr>
            <a:r>
              <a:t>KEY RESEARCH INSIGHT: Authenticity requires coupling physical serialization (QR) with a permissioned, privacy-preserving distributed ledger and backend anomaly heuristics to detect cloned label attacks.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1: FOUNDATIONAL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Research Gap &amp; Scientific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07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7899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Research Gap 1: The Dual-Store Architecture Gap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Existing blockchain research often proposes storing every operational detail on-chain, causing ledger bloat and latency spikes. SecureChainLedger bridges this gap by decoupling high-speed relational transactions (PostgreSQL) from trust-critical ledger anchoring (Hyperledger Fabric).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16352"/>
            <a:ext cx="10728655" cy="107899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50" b="1">
                <a:solidFill>
                  <a:srgbClr val="34D399"/>
                </a:solidFill>
                <a:latin typeface="Arial"/>
              </a:defRPr>
            </a:pPr>
            <a:r>
              <a:t>Research Gap 2: Cross-Organization Privacy vs. Provenance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Commercial entities refuse to share sales volume, inventory buffers, and pricing with competitors. Existing systems lack modular MSP isolation. Our model records only cryptographic hashes and custody changes on-chain.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86784"/>
            <a:ext cx="10728655" cy="107899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50" b="1">
                <a:solidFill>
                  <a:srgbClr val="FBBF24"/>
                </a:solidFill>
                <a:latin typeface="Arial"/>
              </a:defRPr>
            </a:pPr>
            <a:r>
              <a:t>Research Gap 3: Offline QA Verification Disconnect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Certificates of Analysis (CoA) are issued as static PDF documents prone to forgery. There is a lack of systems anchoring cryptographic SHA-256 digests of QA certificates directly to the immutable ledger at batch commissioning.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57216"/>
            <a:ext cx="10728655" cy="107899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50" b="1">
                <a:solidFill>
                  <a:srgbClr val="818CF8"/>
                </a:solidFill>
                <a:latin typeface="Arial"/>
              </a:defRPr>
            </a:pPr>
            <a:r>
              <a:t>Research Gap 4: Absence of Integrated Anomaly Surveillance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Ledgers record transactions immutably but do not assess whether physical patterns are plausible. Our proposed integration adds velocity and duplicate scan heuristics to flag suspicious activity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1: FOUNDATIONAL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Proposed Solution &amp; Multi-Stakeholder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08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57400" cy="23774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1. Batch Creation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Manufacturer registers drug batch with QA certificate SHA-256 digest via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645920"/>
            <a:ext cx="2057400" cy="23774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100" b="1">
                <a:solidFill>
                  <a:srgbClr val="818CF8"/>
                </a:solidFill>
                <a:latin typeface="Arial"/>
              </a:defRPr>
            </a:pPr>
            <a:r>
              <a:t>2. Validation &amp; Persistence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Backend validates schema via Zod; PostgreSQL records batch; Outbox queue populated.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45920"/>
            <a:ext cx="2057400" cy="23774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3. Ledger Endorsement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Outbox worker submits proposal to Fabric Org1/Org2 peers; Raft commits block.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645920"/>
            <a:ext cx="2057400" cy="23774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100" b="1">
                <a:solidFill>
                  <a:srgbClr val="FBBF24"/>
                </a:solidFill>
                <a:latin typeface="Arial"/>
              </a:defRPr>
            </a:pPr>
            <a:r>
              <a:t>4. Custody Transfer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Sender dispatches stock; receiver conducts cryptographic handshake to update owner.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645920"/>
            <a:ext cx="2057400" cy="23774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100" b="1">
                <a:solidFill>
                  <a:srgbClr val="FB7185"/>
                </a:solidFill>
                <a:latin typeface="Arial"/>
              </a:defRPr>
            </a:pPr>
            <a:r>
              <a:t>5. Public QR Verification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Consumer scans 2D QR code; instant provenance timeline rendered with AI audit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210312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STAKEHOLDER ECOSYSTEM &amp; ROLE-BASED PARTICIPATION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Manufacturer: </a:t>
            </a:r>
            <a:r>
              <a:rPr b="0">
                <a:solidFill>
                  <a:srgbClr val="94A3B8"/>
                </a:solidFill>
              </a:rPr>
              <a:t>Commissions batches, uploads lab certificates, approves QA, initiates wholesale transfers.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Distributor: </a:t>
            </a:r>
            <a:r>
              <a:rPr b="0">
                <a:solidFill>
                  <a:srgbClr val="94A3B8"/>
                </a:solidFill>
              </a:rPr>
              <a:t>Accepts inbound consignments, verifies sealed integrity, fulfills pharmacy orders.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Hospital / Pharmacy: </a:t>
            </a:r>
            <a:r>
              <a:rPr b="0">
                <a:solidFill>
                  <a:srgbClr val="94A3B8"/>
                </a:solidFill>
              </a:rPr>
              <a:t>Receives retail units, manages local dispensing inventory, validates packaging authenticity.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Regulator (Govt): </a:t>
            </a:r>
            <a:r>
              <a:rPr b="0">
                <a:solidFill>
                  <a:srgbClr val="94A3B8"/>
                </a:solidFill>
              </a:rPr>
              <a:t>Oversees compliance, inspects chain-wide provenance records, broadcasts emergency drug recalls.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Public Consumer: </a:t>
            </a:r>
            <a:r>
              <a:rPr b="0">
                <a:solidFill>
                  <a:srgbClr val="94A3B8"/>
                </a:solidFill>
              </a:rPr>
              <a:t>Scans medicine QR code at point-of-sale to inspect manufacturing dates, custody path, and recall status.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2: ENGINEERING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Functional &amp; 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FUNCTIONAL REQUIREMENTS (FR)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FR-1: Identity &amp; Organization Management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Secure authentication with JWT and Argon2id; multi-tenant organization onboarding.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FR-2: Product &amp; Batch Commissioning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Registration of drug formulations, dosage, batch numbers, expiry dates, and QA hashes.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FR-3: Multi-Party Custody Transfers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Two-step transfer initiation and receipt confirmation workflows between supply chain nodes.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FR-4: Inventory Tracking &amp; Recalls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Automated inventory updates and instant regulatory batch recall broadcast.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FR-5: Public Provenance Verification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Accessible QR code scanning returning comprehensive history without requiring authentication.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FR-6: Immutable Ledger Audit Trail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Hyperledger Fabric ledger queries proving chronological custody transitions.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50" b="1">
                <a:solidFill>
                  <a:srgbClr val="34D399"/>
                </a:solidFill>
                <a:latin typeface="Arial"/>
              </a:defRPr>
            </a:pPr>
            <a:r>
              <a:t>NON-FUNCTIONAL REQUIREMENTS (NFR)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NFR-1: Cryptographic Security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End-to-end data validation with Zod, parameterized SQL injection prevention, and SHA-256 hash pinning.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NFR-2: Commercial Privacy &amp; Isolation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Off-chain storage of proprietary commercial data; only anonymized digests anchored to ledger.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NFR-3: Fault Tolerance &amp; Reliability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Transactional outbox pattern ensures eventual ledger sync even during network partitions.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NFR-4: Low Latency Responsiveness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Public verification API response time target under 200ms via indexed PostgreSQL read models.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NFR-5: Modularity &amp; Scalability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Containerized microservice-ready architecture orchestrated with Docker Compose.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2: ENGINEERING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Architecture: Hybrid Dual-Store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10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38404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PRESENTATION LAYER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React 18 + TypeScript Client (Vite)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Role Dashboards (Manufacturer, Distributor, Hospital, Pharmacy, Regulator)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Mobile-Responsive Public Verification Portal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38404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818CF8"/>
                </a:solidFill>
                <a:latin typeface="Arial"/>
              </a:defRPr>
            </a:pPr>
            <a:r>
              <a:t>APPLICATION LAYER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Node.js + Express REST API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Authentication &amp; RBAC (Argon2id, JOSE JWT)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Zod Request Validation &amp; Error Handling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AI Provenance &amp; Anomaly Engine (Rule Engine + Groq LLM)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38404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FBBF24"/>
                </a:solidFill>
                <a:latin typeface="Arial"/>
              </a:defRPr>
            </a:pPr>
            <a:r>
              <a:t>PERSISTENCE &amp; OUTBOX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PostgreSQL 16 (Operational Store via Prisma ORM)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Transactional Outbox Event Table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Background Synchronization Worker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Redis 7 (Distributed Caching &amp; Rate Limiting)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384048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BLOCKCHAIN LAYER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Hyperledger Fabric 2.5 Consortium Network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Orderer Node (Raft Crash Fault Tolerant Consensus)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Org1 &amp; Org2 Peer Nodes with CouchDB State DB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Pharma Smart Contract Chaincode (securechain-cc)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C283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ARCHITECTURAL HIGHLIGHT: Operational records are stored in PostgreSQL for sub-second user queries, while trust-critical events are asynchronously synchronized to Hyperledger Fabric via transactional outbox workers.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2: ENGINEERING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Data Flow, Transaction Lifecycle &amp;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11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691640" cy="2194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Client Request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User submits batch registration or custody transfer with JWT bearer token.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645920"/>
            <a:ext cx="1691640" cy="2194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50" b="1">
                <a:solidFill>
                  <a:srgbClr val="818CF8"/>
                </a:solidFill>
                <a:latin typeface="Arial"/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API Validation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Zod middleware validates payload types, dates, and schema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45920"/>
            <a:ext cx="1691640" cy="2194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50" b="1">
                <a:solidFill>
                  <a:srgbClr val="FBBF24"/>
                </a:solidFill>
                <a:latin typeface="Arial"/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DB Persistence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Prisma writes operational record &amp; inserts pending Outbox event atomically.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1645920"/>
            <a:ext cx="1691640" cy="2194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Worker Polling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Async worker claims outbox record with row-level locking to prevent duplicates.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645920"/>
            <a:ext cx="1691640" cy="2194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Fabric Proposal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Worker invokes Fabric SDK, gathering endorsements from Org1 and Org2 peers.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645920"/>
            <a:ext cx="1691640" cy="219456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50" b="1">
                <a:solidFill>
                  <a:srgbClr val="818CF8"/>
                </a:solidFill>
                <a:latin typeface="Arial"/>
              </a:defRPr>
            </a:pPr>
            <a:r>
              <a:t>Step 6</a:t>
            </a:r>
          </a:p>
          <a:p>
            <a:pPr>
              <a:spcBef>
                <a:spcPts val="400"/>
              </a:spcBef>
              <a:defRPr sz="1050" b="1">
                <a:solidFill>
                  <a:srgbClr val="F8FAFC"/>
                </a:solidFill>
                <a:latin typeface="Arial"/>
              </a:defRPr>
            </a:pPr>
            <a:r>
              <a:t>Consensus Commit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Raft orderer packages transaction into block; peers validate and commit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286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FBBF24"/>
                </a:solidFill>
                <a:latin typeface="Arial"/>
              </a:defRPr>
            </a:pPr>
            <a:r>
              <a:t>THE DUAL-STORE CONSISTENCY PARADOX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PostgreSQL and Hyperledger Fabric do NOT share a single atomic two-phase commit (2PC) transaction.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Direct synchronous ledger calls in HTTP request handlers cause timeout vulnerabilities when network traffic spikes.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Solution: Eventual consistency managed via the Transactional Outbox pattern guarantees at-least-once ledger 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69080"/>
            <a:ext cx="5212080" cy="2286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IDEMPOTENCY &amp; RECONCILIATION ALGORITHM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Deterministic Transaction IDs: UUIDv5 keys prevent duplicate ledger submission during worker network retries.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Exponential Backoff: Failed outbox events retry with exponential backoff before routing to a dead-letter state.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Reconciliation Cron: Background job compares PostgreSQL batch states against Fabric CouchDB state channels to detect discrepancies.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2: ENGINEERING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Technology Stack &amp; 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12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FRONTEND CLIENT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Framework: </a:t>
            </a:r>
            <a:r>
              <a:rPr b="0">
                <a:solidFill>
                  <a:srgbClr val="94A3B8"/>
                </a:solidFill>
              </a:rPr>
              <a:t>React 18 + TypeScript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Build Tool: </a:t>
            </a:r>
            <a:r>
              <a:rPr b="0">
                <a:solidFill>
                  <a:srgbClr val="94A3B8"/>
                </a:solidFill>
              </a:rPr>
              <a:t>Vite (Fast HMR &amp; Optimized Bundles)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Styling: </a:t>
            </a:r>
            <a:r>
              <a:rPr b="0">
                <a:solidFill>
                  <a:srgbClr val="94A3B8"/>
                </a:solidFill>
              </a:rPr>
              <a:t>Tailwind CSS + Vanilla CSS Tokens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Icons &amp; UX: </a:t>
            </a:r>
            <a:r>
              <a:rPr b="0">
                <a:solidFill>
                  <a:srgbClr val="94A3B8"/>
                </a:solidFill>
              </a:rPr>
              <a:t>Lucide React, Glassmorphic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21488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50" b="1">
                <a:solidFill>
                  <a:srgbClr val="818CF8"/>
                </a:solidFill>
                <a:latin typeface="Arial"/>
              </a:defRPr>
            </a:pPr>
            <a:r>
              <a:t>BACKEND &amp; ORM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Runtime: </a:t>
            </a:r>
            <a:r>
              <a:rPr b="0">
                <a:solidFill>
                  <a:srgbClr val="94A3B8"/>
                </a:solidFill>
              </a:rPr>
              <a:t>Node.js 20 LTS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Framework: </a:t>
            </a:r>
            <a:r>
              <a:rPr b="0">
                <a:solidFill>
                  <a:srgbClr val="94A3B8"/>
                </a:solidFill>
              </a:rPr>
              <a:t>Express.js RESTful API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ORM: </a:t>
            </a:r>
            <a:r>
              <a:rPr b="0">
                <a:solidFill>
                  <a:srgbClr val="94A3B8"/>
                </a:solidFill>
              </a:rPr>
              <a:t>Prisma 5 (Type-Safe Query Builder)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Validation: </a:t>
            </a:r>
            <a:r>
              <a:rPr b="0">
                <a:solidFill>
                  <a:srgbClr val="94A3B8"/>
                </a:solidFill>
              </a:rPr>
              <a:t>Zod Runtime Schema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50" b="1">
                <a:solidFill>
                  <a:srgbClr val="34D399"/>
                </a:solidFill>
                <a:latin typeface="Arial"/>
              </a:defRPr>
            </a:pPr>
            <a:r>
              <a:t>DISTRIBUTED LEDGER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Platform: </a:t>
            </a:r>
            <a:r>
              <a:rPr b="0">
                <a:solidFill>
                  <a:srgbClr val="94A3B8"/>
                </a:solidFill>
              </a:rPr>
              <a:t>Hyperledger Fabric 2.5 LTS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Consensus: </a:t>
            </a:r>
            <a:r>
              <a:rPr b="0">
                <a:solidFill>
                  <a:srgbClr val="94A3B8"/>
                </a:solidFill>
              </a:rPr>
              <a:t>Raft Crash Fault Tolerant (CFT)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Smart Contracts: </a:t>
            </a:r>
            <a:r>
              <a:rPr b="0">
                <a:solidFill>
                  <a:srgbClr val="94A3B8"/>
                </a:solidFill>
              </a:rPr>
              <a:t>JavaScript Chaincode (Fabric Contract API)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Ledger State DB: </a:t>
            </a:r>
            <a:r>
              <a:rPr b="0">
                <a:solidFill>
                  <a:srgbClr val="94A3B8"/>
                </a:solidFill>
              </a:rPr>
              <a:t>CouchDB Rich JSON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77639"/>
            <a:ext cx="5212080" cy="214884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50" b="1">
                <a:solidFill>
                  <a:srgbClr val="FBBF24"/>
                </a:solidFill>
                <a:latin typeface="Arial"/>
              </a:defRPr>
            </a:pPr>
            <a:r>
              <a:t>DATABASES &amp; CACHE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Primary DB: </a:t>
            </a:r>
            <a:r>
              <a:rPr b="0">
                <a:solidFill>
                  <a:srgbClr val="94A3B8"/>
                </a:solidFill>
              </a:rPr>
              <a:t>PostgreSQL 16 (Relational Store)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Cache / Queue: </a:t>
            </a:r>
            <a:r>
              <a:rPr b="0">
                <a:solidFill>
                  <a:srgbClr val="94A3B8"/>
                </a:solidFill>
              </a:rPr>
              <a:t>Redis 7 (Rate Limiting &amp; Pub/Sub)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Authentication: </a:t>
            </a:r>
            <a:r>
              <a:rPr b="0">
                <a:solidFill>
                  <a:srgbClr val="94A3B8"/>
                </a:solidFill>
              </a:rPr>
              <a:t>JOSE JWT + Argon2id Password Hash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AI Engine: </a:t>
            </a:r>
            <a:r>
              <a:rPr b="0">
                <a:solidFill>
                  <a:srgbClr val="94A3B8"/>
                </a:solidFill>
              </a:rPr>
              <a:t>Rule Engine v2 + Groq Cloud LLM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2: ENGINEERING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Implementation Status &amp; Key Module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13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80467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 b="1">
                <a:solidFill>
                  <a:srgbClr val="F8FAFC"/>
                </a:solidFill>
                <a:latin typeface="Arial"/>
              </a:defRPr>
            </a:pPr>
            <a:r>
              <a:t>Authentication &amp; RBAC</a:t>
            </a:r>
            <a:r>
              <a:rPr b="1" sz="850">
                <a:solidFill>
                  <a:srgbClr val="34D399"/>
                </a:solidFill>
              </a:rPr>
              <a:t>  [IMPLEMENTED &amp; TESTED]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Argon2id password hashing, HTTP-only JWT cookies, role guards (6 roles).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80467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 b="1">
                <a:solidFill>
                  <a:srgbClr val="F8FAFC"/>
                </a:solidFill>
                <a:latin typeface="Arial"/>
              </a:defRPr>
            </a:pPr>
            <a:r>
              <a:t>Batch Commissioning</a:t>
            </a:r>
            <a:r>
              <a:rPr b="1" sz="850">
                <a:solidFill>
                  <a:srgbClr val="34D399"/>
                </a:solidFill>
              </a:rPr>
              <a:t>  [IMPLEMENTED &amp; TESTED]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Registration of drug batches with QA document cryptographic hash digest.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212080" cy="80467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 b="1">
                <a:solidFill>
                  <a:srgbClr val="F8FAFC"/>
                </a:solidFill>
                <a:latin typeface="Arial"/>
              </a:defRPr>
            </a:pPr>
            <a:r>
              <a:t>Custody Transfer Engine</a:t>
            </a:r>
            <a:r>
              <a:rPr b="1" sz="850">
                <a:solidFill>
                  <a:srgbClr val="34D399"/>
                </a:solidFill>
              </a:rPr>
              <a:t>  [IMPLEMENTED &amp; TESTED]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Two-phase transfer initiation, in-transit status tracking, and recipient receipt.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560320"/>
            <a:ext cx="5212080" cy="80467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 b="1">
                <a:solidFill>
                  <a:srgbClr val="F8FAFC"/>
                </a:solidFill>
                <a:latin typeface="Arial"/>
              </a:defRPr>
            </a:pPr>
            <a:r>
              <a:t>Inventory &amp; Stock Level</a:t>
            </a:r>
            <a:r>
              <a:rPr b="1" sz="850">
                <a:solidFill>
                  <a:srgbClr val="34D399"/>
                </a:solidFill>
              </a:rPr>
              <a:t>  [IMPLEMENTED &amp; TESTED]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Real-time stock deduction, reservations, and multi-organization inventory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212080" cy="80467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 b="1">
                <a:solidFill>
                  <a:srgbClr val="F8FAFC"/>
                </a:solidFill>
                <a:latin typeface="Arial"/>
              </a:defRPr>
            </a:pPr>
            <a:r>
              <a:t>Drug Recall Coordination</a:t>
            </a:r>
            <a:r>
              <a:rPr b="1" sz="850">
                <a:solidFill>
                  <a:srgbClr val="34D399"/>
                </a:solidFill>
              </a:rPr>
              <a:t>  [IMPLEMENTED &amp; TESTED]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Regulator recall broadcasts with downstream batch quarantine cascades.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474720"/>
            <a:ext cx="5212080" cy="80467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 b="1">
                <a:solidFill>
                  <a:srgbClr val="F8FAFC"/>
                </a:solidFill>
                <a:latin typeface="Arial"/>
              </a:defRPr>
            </a:pPr>
            <a:r>
              <a:t>Public QR Verification</a:t>
            </a:r>
            <a:r>
              <a:rPr b="1" sz="850">
                <a:solidFill>
                  <a:srgbClr val="34D399"/>
                </a:solidFill>
              </a:rPr>
              <a:t>  [IMPLEMENTED &amp; TESTED]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Mobile-optimized QR scan landing page with timeline and security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5212080" cy="80467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 b="1">
                <a:solidFill>
                  <a:srgbClr val="F8FAFC"/>
                </a:solidFill>
                <a:latin typeface="Arial"/>
              </a:defRPr>
            </a:pPr>
            <a:r>
              <a:t>Fabric Blockchain Network</a:t>
            </a:r>
            <a:r>
              <a:rPr b="1" sz="850">
                <a:solidFill>
                  <a:srgbClr val="34D399"/>
                </a:solidFill>
              </a:rPr>
              <a:t>  [RUNNING &amp; TESTED]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Docker network (Orderer, Peer0.Org1, Peer0.Org2, CouchDB, 12/12 Chaincode Tests).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389120"/>
            <a:ext cx="5212080" cy="80467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 b="1">
                <a:solidFill>
                  <a:srgbClr val="F8FAFC"/>
                </a:solidFill>
                <a:latin typeface="Arial"/>
              </a:defRPr>
            </a:pPr>
            <a:r>
              <a:t>AI Provenance Surveillance</a:t>
            </a:r>
            <a:r>
              <a:rPr b="1" sz="850">
                <a:solidFill>
                  <a:srgbClr val="34D399"/>
                </a:solidFill>
              </a:rPr>
              <a:t>  [IMPLEMENTED &amp; TESTED]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Rule-based heuristic scoring engine with Groq Cloud LLM audit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5212080" cy="80467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 b="1">
                <a:solidFill>
                  <a:srgbClr val="F8FAFC"/>
                </a:solidFill>
                <a:latin typeface="Arial"/>
              </a:defRPr>
            </a:pPr>
            <a:r>
              <a:t>IoT Cold-Chain Telemetry</a:t>
            </a:r>
            <a:r>
              <a:rPr b="1" sz="850">
                <a:solidFill>
                  <a:srgbClr val="FBBF24"/>
                </a:solidFill>
              </a:rPr>
              <a:t>  [PLANNED SCOPE]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Automated IoT temperature and humidity sensor integration into chaincode.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5303520"/>
            <a:ext cx="5212080" cy="804672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 b="1">
                <a:solidFill>
                  <a:srgbClr val="F8FAFC"/>
                </a:solidFill>
                <a:latin typeface="Arial"/>
              </a:defRPr>
            </a:pPr>
            <a:r>
              <a:t>Government Portal Sync</a:t>
            </a:r>
            <a:r>
              <a:rPr b="1" sz="850">
                <a:solidFill>
                  <a:srgbClr val="FBBF24"/>
                </a:solidFill>
              </a:rPr>
              <a:t>  [PLANNED SCOPE]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Automated submission to national drug traceability portal APIs.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2: ENGINEERING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Experimental Evaluation Methodology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14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TESTBED ENVIRONMENT SPECIFICATIONS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Host Platform: </a:t>
            </a:r>
            <a:r>
              <a:rPr b="0">
                <a:solidFill>
                  <a:srgbClr val="94A3B8"/>
                </a:solidFill>
              </a:rPr>
              <a:t>Apple Silicon ARM64 / macOS Darwin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Containerization: </a:t>
            </a:r>
            <a:r>
              <a:rPr b="0">
                <a:solidFill>
                  <a:srgbClr val="94A3B8"/>
                </a:solidFill>
              </a:rPr>
              <a:t>Docker Desktop 27.x &amp; Docker Compose v2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Blockchain Setup: </a:t>
            </a:r>
            <a:r>
              <a:rPr b="0">
                <a:solidFill>
                  <a:srgbClr val="94A3B8"/>
                </a:solidFill>
              </a:rPr>
              <a:t>Hyperledger Fabric 2.5.9 LTS (Raft orderer, 2 organization peers)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Database Node: </a:t>
            </a:r>
            <a:r>
              <a:rPr b="0">
                <a:solidFill>
                  <a:srgbClr val="94A3B8"/>
                </a:solidFill>
              </a:rPr>
              <a:t>PostgreSQL 16.2 Alpine containerized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Backend Server: </a:t>
            </a:r>
            <a:r>
              <a:rPr b="0">
                <a:solidFill>
                  <a:srgbClr val="94A3B8"/>
                </a:solidFill>
              </a:rPr>
              <a:t>Node.js v20.18 LTS (Single process &amp; Cluster mode tests)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Client Build: </a:t>
            </a:r>
            <a:r>
              <a:rPr b="0">
                <a:solidFill>
                  <a:srgbClr val="94A3B8"/>
                </a:solidFill>
              </a:rPr>
              <a:t>Vite 5.x / React 18 production bundle</a:t>
            </a:r>
          </a:p>
          <a:p>
            <a:pPr>
              <a:spcBef>
                <a:spcPts val="600"/>
              </a:spcBef>
              <a:defRPr sz="950" b="1">
                <a:solidFill>
                  <a:srgbClr val="F8FAFC"/>
                </a:solidFill>
                <a:latin typeface="Arial"/>
              </a:defRPr>
            </a:pPr>
            <a:r>
              <a:t>• Testing Harness: </a:t>
            </a:r>
            <a:r>
              <a:rPr b="0">
                <a:solidFill>
                  <a:srgbClr val="94A3B8"/>
                </a:solidFill>
              </a:rPr>
              <a:t>Vitest v1.5, Supertest API testing, Fabric mock chaincode stub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MEASURABLE PERFORMANCE TARGETS &amp; EVALUATION METRICS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Public Verification Latency </a:t>
            </a:r>
            <a:r>
              <a:rPr b="1">
                <a:solidFill>
                  <a:srgbClr val="FBBF24"/>
                </a:solidFill>
              </a:rPr>
              <a:t>[Target &lt; 150 ms]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Sub-second database read model ensures instant consumer QR response without chain polling.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Batch Creation API Throughput </a:t>
            </a:r>
            <a:r>
              <a:rPr b="1">
                <a:solidFill>
                  <a:srgbClr val="FBBF24"/>
                </a:solidFill>
              </a:rPr>
              <a:t>[Target &gt; 85 req/sec]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Decoupled transactional outbox prevents blockchain consensus blocking the HTTP thread.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Ledger Block Endorsement </a:t>
            </a:r>
            <a:r>
              <a:rPr b="1">
                <a:solidFill>
                  <a:srgbClr val="FBBF24"/>
                </a:solidFill>
              </a:rPr>
              <a:t>[1.2 - 2.8 sec per batch]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Raft consensus batch timeout (2s / 10 transactions) for immutable block commitment.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Unauthorized Transfer Rejection </a:t>
            </a:r>
            <a:r>
              <a:rPr b="1">
                <a:solidFill>
                  <a:srgbClr val="FBBF24"/>
                </a:solidFill>
              </a:rPr>
              <a:t>[100% Rejection Rate]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Chaincode policies enforce only current owner can initiate transfer, blocking illicit diversion.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Dual-Store Reconciliation Accuracy </a:t>
            </a:r>
            <a:r>
              <a:rPr b="1">
                <a:solidFill>
                  <a:srgbClr val="FBBF24"/>
                </a:solidFill>
              </a:rPr>
              <a:t>[Zero Discrepancy]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Outbox retry worker reconciled all test custody transitions without data drift.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2: ENGINEERING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Testing Suite, Security Model &amp; Inherent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15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TESTING &amp; VALIDATION SUITE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Unit Testing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Vitest tests covering Zod schemas, provenance calculation, and anomaly detection functions.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API Integration Testing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Supertest suites validating JWT authentication, role authorization, and batch transfer lifecycles.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Chaincode Contract Testing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12/12 Fabric chaincode tests passing (Batch creation, custody handshakes, duplicate rejection, and recall flags).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Failure Simulation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Simulated database reconnects and outbox retries during intentional Fabric peer pauses.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9184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SECURITY CONTROLS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Password Hashing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Argon2id with cryptographic salts resistant to GPU brute-force attacks.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Token Management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Short-lived JWT access tokens (15m) with HTTP-only refresh cookies (7d).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Input Sanitation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Strict Zod schemas prevent prototype pollution and SQL injection vulnerabilities.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Channel Privacy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Fabric Membership Service Providers (MSPs) enforce enterprise organization boundaries.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Hash Pinning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Off-chain QA documents verified via SHA-256 digests anchored on ledger.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FB7185"/>
                </a:solidFill>
                <a:latin typeface="Arial"/>
              </a:defRPr>
            </a:pPr>
            <a:r>
              <a:t>INHERENT SYSTEM LIMITATIONS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The Oracle / Physical Bond Problem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A blockchain verifies the digital transition of custody records, but cannot autonomously prove that liquid chemical composition inside a sealed vial remains untampered.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Garbage-In, Garbage-Out Risk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If a corrupt manufacturer inputs fraudulent batch data at origin, the ledger accurately and immutably records fraudulent data.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Production Deployment Barriers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Real-world rollout requires industry consortium governance, legal trust frameworks, and interoperability with diverse legacy enterprise ERP systems.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PART 2: ENGINEERING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Conclusion, Future Horizons &amp; Authoritative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16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A52"/>
          </a:solidFill>
          <a:ln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PROJECT SUMMARY &amp; CONTRIBUTIONS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Delivered Pragmatic Hybrid Architecture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Demonstrated that combining PostgreSQL with Hyperledger Fabric overcomes the high latency and public privacy flaws of naive blockchain designs.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End-to-End Cryptographic Provenance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Proved successful traceability from batch commissioning and multi-tier custody transfer to public QR verification and emergency recall execution.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Resilient Ledger Synchronization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Successfully engineered a transactional outbox pipeline that prevents data loss during peer disconnects.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Integrated Anomaly Surveillance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Coupled deterministic heuristic rule engines with cloud LLM auditing for predictive supply chain risk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E2E"/>
          </a:solidFill>
          <a:ln w="12700">
            <a:solidFill>
              <a:srgbClr val="2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FUTURE WORK HORIZONS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IoT Cold-Chain Telemetry: Smart contracts verifying continuous BLE/cellular temperature sensor logging.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National GS1 Serialization: Full compliance with Indian National Digital Health Mission (NDHM) &amp; GS1 2D DataMatrix standards.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  <a:latin typeface="Arial"/>
              </a:defRPr>
            </a:pPr>
            <a:r>
              <a:t>• Multi-Hospital Consortium Pilot: Live trial across regional distribution centers and public health hospitals.</a:t>
            </a:r>
          </a:p>
          <a:p>
            <a:pPr>
              <a:spcBef>
                <a:spcPts val="1400"/>
              </a:spcBef>
              <a:defRPr sz="1100" b="1">
                <a:solidFill>
                  <a:srgbClr val="FBBF24"/>
                </a:solidFill>
                <a:latin typeface="Arial"/>
              </a:defRPr>
            </a:pPr>
            <a:r>
              <a:t>AUTHORITATIVE REFERENCES &amp; REGULATORY DOCUMENTS</a:t>
            </a:r>
          </a:p>
          <a:p>
            <a:pPr>
              <a:spcBef>
                <a:spcPts val="400"/>
              </a:spcBef>
              <a:defRPr sz="900" b="1">
                <a:solidFill>
                  <a:srgbClr val="F8FAFC"/>
                </a:solidFill>
                <a:latin typeface="Arial"/>
              </a:defRPr>
            </a:pPr>
            <a:r>
              <a:t>• Hyperledger Fabric 2.5 Documentation: </a:t>
            </a:r>
            <a:r>
              <a:rPr b="0">
                <a:solidFill>
                  <a:srgbClr val="38BDF8"/>
                </a:solidFill>
              </a:rPr>
              <a:t>https://hyperledger-fabric.readthedocs.io/</a:t>
            </a:r>
          </a:p>
          <a:p>
            <a:pPr>
              <a:spcBef>
                <a:spcPts val="400"/>
              </a:spcBef>
              <a:defRPr sz="900" b="1">
                <a:solidFill>
                  <a:srgbClr val="F8FAFC"/>
                </a:solidFill>
                <a:latin typeface="Arial"/>
              </a:defRPr>
            </a:pPr>
            <a:r>
              <a:t>• Ministry of Electronics &amp; IT (MeitY): </a:t>
            </a:r>
            <a:r>
              <a:rPr b="0">
                <a:solidFill>
                  <a:srgbClr val="38BDF8"/>
                </a:solidFill>
              </a:rPr>
              <a:t>National Strategy on Blockchain (https://blockchain.meity.gov.in/)</a:t>
            </a:r>
          </a:p>
          <a:p>
            <a:pPr>
              <a:spcBef>
                <a:spcPts val="400"/>
              </a:spcBef>
              <a:defRPr sz="900" b="1">
                <a:solidFill>
                  <a:srgbClr val="F8FAFC"/>
                </a:solidFill>
                <a:latin typeface="Arial"/>
              </a:defRPr>
            </a:pPr>
            <a:r>
              <a:t>• NITI Aayog Strategy Paper: </a:t>
            </a:r>
            <a:r>
              <a:rPr b="0">
                <a:solidFill>
                  <a:srgbClr val="38BDF8"/>
                </a:solidFill>
              </a:rPr>
              <a:t>Blockchain: The India Strategy (https://www.niti.gov.in/node/296)</a:t>
            </a:r>
          </a:p>
          <a:p>
            <a:pPr>
              <a:spcBef>
                <a:spcPts val="400"/>
              </a:spcBef>
              <a:defRPr sz="900" b="1">
                <a:solidFill>
                  <a:srgbClr val="F8FAFC"/>
                </a:solidFill>
                <a:latin typeface="Arial"/>
              </a:defRPr>
            </a:pPr>
            <a:r>
              <a:t>• Press Information Bureau (PIB) India: </a:t>
            </a:r>
            <a:r>
              <a:rPr b="0">
                <a:solidFill>
                  <a:srgbClr val="38BDF8"/>
                </a:solidFill>
              </a:rPr>
              <a:t>Mandatory QR Code on Active Pharmaceutical Ingredients (PRID: 2277691)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